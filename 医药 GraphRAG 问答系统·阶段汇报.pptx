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各位老师好，我们小组的课程实践项目是医药领域的 GraphRAG 问答系统。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本阶段完成了从医药语料到知识图谱再到问答系统的完整流程，下面围绕评价标准的六大维度进行汇报。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本次汇报按照评价标准的六大维度组织：创意与价值、系统实现、Graph 效果、界面表现、测试与质量保障、材料与协作。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目录页码与内容一一对应，第 13 页为总结与展望，第 14 页为结尾。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我们的项目选择医药领域，是因为医药文本实体关系密集、查询天然需要多跳推理，非常适合体现知识图谱的价值。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使用场景是面向患者和从业者的药品知识问答，比如服药机制、副作用、用药风险。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知识图谱在这里发挥四个作用：知识关联、多跳查询、信息组织、答案可解释。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系统整体分两部分：离线建图管线负责把语料变成图谱，在线问答流程负责把问题变成答案。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离线五步：语料清洗、实体关系抽取、语义向量化、Neo4j 入库、质检。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在线五步：问题输入、混合检索、图遍历扩展、大模型生成、答案与子图展示。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两条链路共用同一个知识图谱，保证数据一致性和答案可溯源。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图谱构建完成后的规模：32 篇语料抽取 361 个实体、513 条关系，共 7 类实体。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实体类型分布以概念和疾病最多，药物、机制、症状、副作用均衡覆盖。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质检环节做了实体去重合并、关系归一、坏边检查，全部实体都带有语义向量，供向量检索使用。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我们实现了四种检索器：向量、关键词、混合和图遍历，问答默认使用混合加图遍历的组合。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开发中遇到一个典型问题：外部 Embedding 服务不稳定导致降级为哈希向量，哈希向量没有语义，召回效果差。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解决方式是接入智谱 embedding-3，重建语义向量后召回恢复正常，测试全部通过。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第二章最后补充团队分工：五人按角色分五条任务线并行推进。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组长陈泽辉负责统筹与质检；数据与建图、检索与问答、图谱入库、前端与测试各由一名组员负责。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任务线之间通过接口约定衔接，GitHub 多分支协作。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为了公平对比，我们使用相同语料、相同 10 题测试集、相同 DeepSeek 生成模型，只改变检索方式。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普通 RAG 只做文本块向量检索，GraphRAG 增加实体、图路径与图遍历扩展。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对比维度包括检索单元、多跳推理能力、答案依据和可解释性，后面两页用具体案例展示差异。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第一个成功案例是多跳问题：哪些药物通过抑制环氧合酶发挥作用。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GraphRAG 先定位实体环氧合酶，再沿抑制关系反向遍历找到阿司匹林、布洛芬等药物。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普通 RAG 只能从含环氧合酶字样的文本片段作答，容易漏掉跨文档的药物实体。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系统回答后还会返回相关子图，展示答案依据。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第四章介绍界面表现：我们提供了一个交互式图谱前端，基于 ECharts 力导向图展示实体与关系。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四个核心功能：问答交互返回答案与子图、图谱可视化支持拖拽缩放、实体搜索在图中高亮定位、答案可逐条溯源。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演示时启动 API 后访问前端页面，也可以通过 Neo4j Browser 查看全量图谱。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第五章介绍测试与质量保障：自动化测试用 10 题标准测试集覆盖单跳、多跳与风险类问题。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Embedding 修复后四种检索器全部通过，每次改动重跑测试集防回归。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图谱质检包括去重合并、关系归一、坏边检查与向量一致性。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演示路径五步即可跑通；改进方向包括实体消歧、图算法与多轮对话。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第六章介绍协作与交付：GitHub 多分支协作，合并与冲突解决，版本可回滚。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交付材料包括代码仓库、README 与介绍书、可运行演示环境与汇报 PPT。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成员分工已前置到第二章第 7 页展示。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总结四点：系统完整可运行、图结构价值得到验证、Embedding 问题得到修复、团队协作规范。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展望四点：图谱质量、图算法、多轮对话与语料扩展。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最后感谢老师和组员的协作。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感谢老师与组员，欢迎针对系统实现、图效果与改进方向提问。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143000" y="1905000"/>
            <a:ext cx="990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医药 GraphRAG 问答系统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68400" y="31496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基于知识图谱增强的医药领域问答系统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430">
            <a:off x="1168404" y="4057650"/>
            <a:ext cx="985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168400" y="4572000"/>
            <a:ext cx="635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7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课程：知识工程 · 阶段 2 汇报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7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小组成员：陈泽辉（组长）· 张予琦 · 杨芝浩 · 李克勤 · 张腾</a:t>
            </a:r>
            <a:endParaRPr lang="en-US" sz="17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7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日期：2026 年 9 月</a:t>
            </a:r>
            <a:endParaRPr lang="en-US" sz="17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381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25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　创意与价值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使用场景与动机：为什么是医药领域，为什么使用知识图谱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16510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P3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243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514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　系统实现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921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建图管线、图谱数据、检索与生成、团队分工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0" y="25400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P4-7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3321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3403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　Graph 效果：RAG 对比与案例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810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相同数据下的普通 RAG 与 GraphRAG 比较，成功与失败案例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88000" y="34290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P8-10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297">
            <a:off x="1016004" y="421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016000" y="4292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　界面表现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4699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问答交互、图谱可视化、答案依据与高亮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588000" y="43180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P11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297">
            <a:off x="1016004" y="5099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16000" y="5181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　测试与质量保障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5588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自动化测试与质检，演示路径与仍需改进的问题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588000" y="52070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P12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4297">
            <a:off x="1016004" y="5988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1016000" y="6070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　材料与协作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6477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成员分工、代码与文档交付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588000" y="60960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P13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7">
            <a:off x="1016004" y="67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· 创意与价值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668000" y="45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9144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医药问答依赖多跳知识关联，普通文本检索难以组织答案依据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使用场景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1016008" y="22542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438400"/>
            <a:ext cx="5080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面向患者与医药从业者的药品知识问答系统：服药机制、副作用、用药风险等常见问题。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语料为 32 篇医药领域专业文本，实体与关系高度密集，如「阿司匹林—抑制→环氧合酶—导致→前列腺素减少」。</a:t>
            </a:r>
            <a:endParaRPr lang="en-US" sz="16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问题常需多跳推理，例如：服用阿司匹林会引发什么症状？哪些药物通过抑制环氧合酶发挥作用？</a:t>
            </a:r>
            <a:endParaRPr lang="en-US" sz="16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858000" y="1778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为什么使用知识图谱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0110">
            <a:off x="6858009" y="22542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858000" y="2438400"/>
            <a:ext cx="4318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知识关联：药物、疾病、症状、机制以关系组织，天然成网，跨文档信息可统一关联。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多跳查询：问题需要沿图路径多步推理，这是图结构的核心优势。</a:t>
            </a:r>
            <a:endParaRPr lang="en-US" sz="16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组织信息：32 篇非结构化语料被组织为结构化实体与关系，检索粒度从段落细化到实体。</a:t>
            </a:r>
            <a:endParaRPr lang="en-US" sz="16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解释答案：答案可溯源到具体实体与路径，支持可解释的问答。</a:t>
            </a:r>
            <a:endParaRPr lang="en-US" sz="16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7">
            <a:off x="1016004" y="67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· 系统实现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668000" y="45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889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系统由离线建图管线与在线问答流程两部分构成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524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离线 · 图谱构建管线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879600"/>
            <a:ext cx="1930400" cy="8128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006600"/>
            <a:ext cx="193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医药语料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32 篇 txt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200400" y="1879600"/>
            <a:ext cx="1930400" cy="8128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200400" y="2006600"/>
            <a:ext cx="193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实体关系抽取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LLM 结构化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384800" y="1879600"/>
            <a:ext cx="1930400" cy="8128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384800" y="2006600"/>
            <a:ext cx="193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语义向量化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智谱 embedding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569200" y="1879600"/>
            <a:ext cx="1930400" cy="8128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569200" y="2006600"/>
            <a:ext cx="193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Neo4j 入库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节点与关系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753600" y="1879600"/>
            <a:ext cx="1930400" cy="8128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753600" y="2006600"/>
            <a:ext cx="193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图谱质检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连通性与去重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214580">
            <a:off x="29719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8" name="Connector 18"/>
          <p:cNvCxnSpPr/>
          <p:nvPr/>
        </p:nvCxnSpPr>
        <p:spPr>
          <a:xfrm rot="-214580">
            <a:off x="51563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9" name="Connector 19"/>
          <p:cNvCxnSpPr/>
          <p:nvPr/>
        </p:nvCxnSpPr>
        <p:spPr>
          <a:xfrm rot="-214580">
            <a:off x="73407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0" name="Connector 20"/>
          <p:cNvCxnSpPr/>
          <p:nvPr/>
        </p:nvCxnSpPr>
        <p:spPr>
          <a:xfrm rot="-214580">
            <a:off x="95251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1" name="AutoShape 21"/>
          <p:cNvSpPr/>
          <p:nvPr/>
        </p:nvSpPr>
        <p:spPr>
          <a:xfrm>
            <a:off x="1016000" y="3175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在线 · 问答流程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3530600"/>
            <a:ext cx="1930400" cy="812800"/>
          </a:xfrm>
          <a:prstGeom prst="roundRect">
            <a:avLst>
              <a:gd name="adj" fmla="val 0"/>
            </a:avLst>
          </a:prstGeom>
          <a:solidFill>
            <a:srgbClr val="E0E5F0">
              <a:alpha val="100000"/>
            </a:srgbClr>
          </a:solidFill>
          <a:ln w="12700" cap="flat" cmpd="sng">
            <a:solidFill>
              <a:srgbClr val="54627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3657600"/>
            <a:ext cx="193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用户问题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自然语言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200400" y="3530600"/>
            <a:ext cx="1930400" cy="812800"/>
          </a:xfrm>
          <a:prstGeom prst="roundRect">
            <a:avLst>
              <a:gd name="adj" fmla="val 0"/>
            </a:avLst>
          </a:prstGeom>
          <a:solidFill>
            <a:srgbClr val="E0E5F0">
              <a:alpha val="100000"/>
            </a:srgbClr>
          </a:solidFill>
          <a:ln w="12700" cap="flat" cmpd="sng">
            <a:solidFill>
              <a:srgbClr val="54627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3200400" y="3657600"/>
            <a:ext cx="193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混合检索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向量 + 关键词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5384800" y="3530600"/>
            <a:ext cx="1930400" cy="812800"/>
          </a:xfrm>
          <a:prstGeom prst="roundRect">
            <a:avLst>
              <a:gd name="adj" fmla="val 0"/>
            </a:avLst>
          </a:prstGeom>
          <a:solidFill>
            <a:srgbClr val="E0E5F0">
              <a:alpha val="100000"/>
            </a:srgbClr>
          </a:solidFill>
          <a:ln w="12700" cap="flat" cmpd="sng">
            <a:solidFill>
              <a:srgbClr val="54627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384800" y="3657600"/>
            <a:ext cx="193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图遍历扩展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一跳邻居与路径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7569200" y="3530600"/>
            <a:ext cx="1930400" cy="812800"/>
          </a:xfrm>
          <a:prstGeom prst="roundRect">
            <a:avLst>
              <a:gd name="adj" fmla="val 0"/>
            </a:avLst>
          </a:prstGeom>
          <a:solidFill>
            <a:srgbClr val="E0E5F0">
              <a:alpha val="100000"/>
            </a:srgbClr>
          </a:solidFill>
          <a:ln w="12700" cap="flat" cmpd="sng">
            <a:solidFill>
              <a:srgbClr val="54627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569200" y="3657600"/>
            <a:ext cx="193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LLM 生成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DeepSeek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9753600" y="3530600"/>
            <a:ext cx="1930400" cy="812800"/>
          </a:xfrm>
          <a:prstGeom prst="roundRect">
            <a:avLst>
              <a:gd name="adj" fmla="val 0"/>
            </a:avLst>
          </a:prstGeom>
          <a:solidFill>
            <a:srgbClr val="E0E5F0">
              <a:alpha val="100000"/>
            </a:srgbClr>
          </a:solidFill>
          <a:ln w="12700" cap="flat" cmpd="sng">
            <a:solidFill>
              <a:srgbClr val="54627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753600" y="3657600"/>
            <a:ext cx="193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答案 + 子图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可溯源展示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32" name="Connector 32"/>
          <p:cNvCxnSpPr/>
          <p:nvPr/>
        </p:nvCxnSpPr>
        <p:spPr>
          <a:xfrm rot="-214580">
            <a:off x="2971998" y="3930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4627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33" name="Connector 33"/>
          <p:cNvCxnSpPr/>
          <p:nvPr/>
        </p:nvCxnSpPr>
        <p:spPr>
          <a:xfrm rot="-214580">
            <a:off x="5156398" y="3930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4627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34" name="Connector 34"/>
          <p:cNvCxnSpPr/>
          <p:nvPr/>
        </p:nvCxnSpPr>
        <p:spPr>
          <a:xfrm rot="-214580">
            <a:off x="7340798" y="3930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4627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35" name="Connector 35"/>
          <p:cNvCxnSpPr/>
          <p:nvPr/>
        </p:nvCxnSpPr>
        <p:spPr>
          <a:xfrm rot="-214580">
            <a:off x="9525198" y="3930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4627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6" name="AutoShape 36"/>
          <p:cNvSpPr/>
          <p:nvPr/>
        </p:nvSpPr>
        <p:spPr>
          <a:xfrm>
            <a:off x="1016000" y="49784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两条链路共用同一图谱：离线构建保证数据质量，在线流程保证问答效果与可解释性。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7">
            <a:off x="1016004" y="67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· 系统实现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668000" y="45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889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 32 篇医药语料构建出 361 实体、513 关系的知识图谱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625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3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篇医药语料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50892">
            <a:off x="2730500" y="2216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505200" y="1625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361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05200" y="243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个实体节点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50892">
            <a:off x="5219700" y="2216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994400" y="1625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513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994400" y="243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条关系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50892">
            <a:off x="7708900" y="2216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483600" y="16256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7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483600" y="2438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类实体类型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30480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实体类型分布（个）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429000"/>
            <a:ext cx="6858000" cy="314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382000" y="30480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图谱质检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626">
            <a:off x="8382014" y="33972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82000" y="35814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实体去重与合并，同义写法归一。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关系类型归一化，保证图结构一致。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坏边检查：0 条无效边。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全部实体附带语义向量（智谱 embedding-3，1536 维）。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7">
            <a:off x="1016004" y="67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· 系统实现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668000" y="45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889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四种检索器协同工作，语义向量质量决定召回效果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2095500" cy="12192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17600" y="1905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向量检索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问题向量化，按语义相似度召回实体与 Chunk</a:t>
            </a:r>
            <a:endParaRPr lang="en-US" sz="12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365500" y="1778000"/>
            <a:ext cx="2095500" cy="12192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467100" y="1905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关键词检索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字面匹配召回相关实体与片段</a:t>
            </a:r>
            <a:endParaRPr lang="en-US" sz="12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715000" y="1778000"/>
            <a:ext cx="2095500" cy="12192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816600" y="1905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混合检索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向量与关键词结果融合排序（推荐）</a:t>
            </a:r>
            <a:endParaRPr lang="en-US" sz="12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64500" y="1778000"/>
            <a:ext cx="2095500" cy="12192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66100" y="1905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图遍历检索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实体锚定后沿一跳邻居扩展上下文</a:t>
            </a:r>
            <a:endParaRPr lang="en-US" sz="12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3327400"/>
            <a:ext cx="914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问答默认采用「混合 + 图遍历」组合，兼顾语义召回与图结构上下文。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297">
            <a:off x="1016004" y="387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016000" y="4191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问题：外部 Embedding 不可用，降级哈希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46736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外部 Embedding 服务调用失败后，系统曾降级为本地哈希向量。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哈希向量无语义信息，向量检索近似随机，多道测试题出现「无法回答」。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85925">
            <a:off x="6350079" y="507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9" name="AutoShape 19"/>
          <p:cNvSpPr/>
          <p:nvPr/>
        </p:nvSpPr>
        <p:spPr>
          <a:xfrm>
            <a:off x="7112000" y="4191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解决：接入智谱 Embedding-3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0" y="4673600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接入智谱 embedding-3 服务，1536 维语义向量。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重建全库向量后，语义召回恢复正常，四种检索器在标准测试集上全部答对。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7">
            <a:off x="1016004" y="67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· 系统实现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668000" y="45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889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五人分工，五条任务线并行推进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6002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成员：陈泽辉（组长）· 张予琦 · 杨芝浩 · 李克勤 · 张腾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6000" y="2032000"/>
          <a:ext cx="10160000" cy="2514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/>
                <a:gridCol w="7366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角色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职责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组长 · 统筹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项目规划、图谱质检、进度协调、汇报组织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数据与建图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语料清洗、实体关系抽取、语义向量化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检索与问答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四类检索器实现、Embedding 接入与修复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图谱入库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Neo4j 建模、节点与关系写入、查询接口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前端与测试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图谱可视化、测试集与质检脚本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8"/>
          <p:cNvCxnSpPr/>
          <p:nvPr/>
        </p:nvCxnSpPr>
        <p:spPr>
          <a:xfrm rot="-4297">
            <a:off x="1016004" y="497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52578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任务线之间通过接口约定衔接：建图产出结构化数据供入库，入库产出图谱供检索，检索结果供前端与测试验证。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GitHub 多分支协作，每任务线独立分支开发，合并前评审。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7">
            <a:off x="1016004" y="67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· Graph 效果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668000" y="45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889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相同数据、相同问题、相同大模型下的公平对比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6002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对比口径：同一 32 篇语料 · 同一 10 题标准测试集 · 同一 DeepSeek 生成模型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6000" y="2082800"/>
          <a:ext cx="10160000" cy="2844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064000"/>
                <a:gridCol w="4064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比较维度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普通 RAG（仅文本检索）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GraphRAG（本系统）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检索单元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文本 Chunk 向量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实体 + Chunk + 图路径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多跳推理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依赖文本片段共现，跨文档弱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沿图路径显式推理，跨文档强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答案依据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片段引用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实体关系路径 + 子图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可解释性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较弱，依据难定位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强，答案可溯源到实体与关系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1016000" y="53340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图结构实际帮助了什么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7912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关联：跨文档信息以实体为枢纽聚合；多跳：问题沿「药物—机制—症状」路径作答；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答案依据：问答返回相关子图供核验；可解释性：答案可定位到具体实体与关系。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7">
            <a:off x="1016004" y="67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· Graph 效果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668000" y="45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09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889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多跳问题沿图路径作答，答案可溯源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600200"/>
            <a:ext cx="10160000" cy="533400"/>
          </a:xfrm>
          <a:prstGeom prst="roundRect">
            <a:avLst>
              <a:gd name="adj" fmla="val 0"/>
            </a:avLst>
          </a:prstGeom>
          <a:solidFill>
            <a:srgbClr val="2A2D3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19200" y="1714500"/>
            <a:ext cx="9753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问题：哪些药物通过抑制环氧合酶发挥作用？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3114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图谱中的答案路径（示意）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2692400"/>
            <a:ext cx="1778000" cy="609600"/>
          </a:xfrm>
          <a:prstGeom prst="ellipse">
            <a:avLst/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70000" y="28194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阿司匹林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175000" y="3581400"/>
            <a:ext cx="2032000" cy="711200"/>
          </a:xfrm>
          <a:prstGeom prst="ellipse">
            <a:avLst/>
          </a:prstGeom>
          <a:solidFill>
            <a:srgbClr val="2A2D3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175000" y="37338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环氧合酶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10000" y="5105400"/>
            <a:ext cx="1778000" cy="609600"/>
          </a:xfrm>
          <a:prstGeom prst="ellipse">
            <a:avLst/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810000" y="52324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布洛芬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70000" y="5105400"/>
            <a:ext cx="1778000" cy="609600"/>
          </a:xfrm>
          <a:prstGeom prst="ellipse">
            <a:avLst/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270000" y="52324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其他 NSAID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881143">
            <a:off x="2521178" y="3435360"/>
            <a:ext cx="10537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8" name="Connector 18"/>
          <p:cNvCxnSpPr/>
          <p:nvPr/>
        </p:nvCxnSpPr>
        <p:spPr>
          <a:xfrm rot="-6525487">
            <a:off x="3777308" y="4679904"/>
            <a:ext cx="82735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9" name="Connector 19"/>
          <p:cNvCxnSpPr/>
          <p:nvPr/>
        </p:nvCxnSpPr>
        <p:spPr>
          <a:xfrm rot="-2246570">
            <a:off x="2413025" y="4692631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7112000" y="23114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系统答案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2692400"/>
            <a:ext cx="4064000" cy="111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阿司匹林、布洛芬等非甾体抗炎药通过抑制环氧合酶（COX-1/COX-2）发挥作用。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12000" y="4191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图如何帮助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0" y="4572000"/>
            <a:ext cx="406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问题先定位实体「环氧合酶」。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图遍历沿「抑制」关系反向召回全部相关药物，实现跨文档聚合。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回答时同步返回相关子图，答案可溯源。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016000" y="5918200"/>
            <a:ext cx="533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注：箭头表示「抑制」关系，示意结构，非全量图谱。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7">
            <a:off x="1016004" y="67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 · 界面表现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668000" y="45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889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交互式图谱前端：问答、可视化、搜索高亮一体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6764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19200" y="1854200"/>
            <a:ext cx="44196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问答交互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输入自然语言问题，返回系统答案与相关子图</a:t>
            </a:r>
            <a:endParaRPr lang="en-US" sz="13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6764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553200" y="1854200"/>
            <a:ext cx="44196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图谱可视化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ECharts 力导向图展示实体与关系，支持拖拽缩放</a:t>
            </a:r>
            <a:endParaRPr lang="en-US" sz="13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3274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219200" y="3505200"/>
            <a:ext cx="44196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实体搜索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输入实体名，图中对应节点高亮定位，关联边联动</a:t>
            </a:r>
            <a:endParaRPr lang="en-US" sz="13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0" y="33274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DCE6D6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53200" y="3505200"/>
            <a:ext cx="44196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答案溯源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答案展示实体路径与依据子图，支持逐条核验</a:t>
            </a:r>
            <a:endParaRPr lang="en-US" sz="13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51308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演示入口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297">
            <a:off x="1016004" y="548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016000" y="56642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启动 API 服务后访问前端页面进行交互演示；同时可通过 Neo4j Browser 直接查看全量图谱与关系结构。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界面采用白色为主的简洁设计，聚焦图谱内容本身，降低视觉干扰。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7">
            <a:off x="1016004" y="67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 · 测试与质量保障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668000" y="45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889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自动化测试与质检贯穿全流程，仍有明确改进方向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676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自动化测试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1336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10 题标准测试集覆盖单跳、多跳与风险类问题，四类检索器逐一评测。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Embedding 修复后，向量、关键词、混合、图遍历四种检索器全部答对，回归通过。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每次改动后重跑测试集，防止功能回归。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676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图谱质检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1336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实体去重合并，同义写法归一，避免节点重复。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关系类型归一化，坏边检查 0 条无效边。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全部实体附带语义向量，维度一致（1536 维）。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3956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191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演示路径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6482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1. 启动 Neo4j 数据库，确认图谱已入库。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2. 运行建图管线，可增量重建实体与关系。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3. 启动问答 API 服务。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4. 打开前端页面，输入问题或搜索实体。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5. 查看答案、子图与溯源路径。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4191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仍需改进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46482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实体消歧与关系抽取质量仍可优化，扩大语料规模。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引入图算法增强检索：PageRank、社区发现、最短路径。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支持多轮对话与更细粒度的引用溯源。</a:t>
            </a:r>
            <a:endParaRPr lang="en-US" sz="14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7">
            <a:off x="1016004" y="67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 · 材料与协作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668000" y="45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889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Git 多分支协作，交付材料完整可复现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6002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成员分工详见 02 · 系统实现 P7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352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协作方式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046">
            <a:off x="1016008" y="26098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GitHub 多分支协作，按任务线独立分支开发。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分支合并与冲突解决，关键节点代码评审。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版本管理贯穿全程，支持回滚与覆盖恢复。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0000" y="22352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交付材料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046">
            <a:off x="6350008" y="26098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350000" y="27940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GitHub 代码仓库，含 README 与项目介绍书。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可运行演示环境：Neo4j + 问答 API + 前端。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汇报 PPT 与答辩材料。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7">
            <a:off x="1016004" y="67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668000" y="45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889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总结与展望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6764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项目总结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133600"/>
            <a:ext cx="5080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1. 基于 32 篇药物知识语料，构建了完整的 GraphRAG 系统：实体与关系图谱 + 四步建图管线 + 四种检索器 + 交互式图谱前端。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2. 用相同数据与问题集对比普通 RAG 与 GraphRAG，验证了图结构在关联、多跳推理、答案依据与可解释性上的实际帮助。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3. 定位并修复了 Embedding 服务失效导致的语义召回退化问题。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4. 团队五人按分工协作，Git 版本管理贯穿全程，产出可复现、可运行。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89519">
            <a:off x="4521200" y="3752860"/>
            <a:ext cx="416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C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112000" y="167640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展望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0" y="2133600"/>
            <a:ext cx="4064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1. 实体消歧与关系抽取优化，提升图谱质量与规模。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2. 引入图算法增强检索：PageRank、社区发现、最短路径。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3. 支持多轮对话与更细粒度的引用溯源。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4. 迁移至更大语料与更多垂直领域验证泛化性。</a:t>
            </a:r>
            <a:endParaRPr lang="en-US" sz="1500" b="0" i="0" u="none" strike="noStrike">
              <a:solidFill>
                <a:srgbClr val="4D5A5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7">
            <a:off x="1016004" y="67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1016000" y="457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668000" y="45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8C8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032000" y="2286000"/>
            <a:ext cx="812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谢谢聆听 · 欢迎提问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3556000"/>
            <a:ext cx="812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D5A5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基于药物知识语料的 GraphRAG 问答系统 · 知识工程课程实践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8647">
            <a:off x="5334026" y="4565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3277</Words>
  <Application>WPS 演示</Application>
  <PresentationFormat/>
  <Paragraphs>379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Serif SC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薛定谔的红橙黄绿青蓝紫猫</cp:lastModifiedBy>
  <cp:revision>2</cp:revision>
  <dcterms:created xsi:type="dcterms:W3CDTF">2026-09-10T00:37:00Z</dcterms:created>
  <dcterms:modified xsi:type="dcterms:W3CDTF">2026-09-10T00:44:36Z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{"Label":"1","ContentProducer":"001191110102MACQD9K64010000","ProduceID":"7683698896048409540","ReservedCode1":"","ContentPropagator":"","PropagateID":"","ReservedCode2":""}</vt:lpwstr>
  </property>
  <property fmtid="{D5CDD505-2E9C-101B-9397-08002B2CF9AE}" pid="3" name="ICV">
    <vt:lpwstr>BF46D340260D42258FA65CACDB29C875_12</vt:lpwstr>
  </property>
  <property fmtid="{D5CDD505-2E9C-101B-9397-08002B2CF9AE}" pid="4" name="KSOProductBuildVer">
    <vt:lpwstr>2052-12.1.0.28022</vt:lpwstr>
  </property>
</Properties>
</file>